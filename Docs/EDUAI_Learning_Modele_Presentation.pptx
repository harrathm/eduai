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D1B2A"/>
                </a:solidFill>
                <a:latin typeface="DM Sans"/>
              </a:defRPr>
            </a:pPr>
            <a:r>
              <a:rPr sz="1200" b="1" i="0" u="none" strike="noStrike">
                <a:solidFill>
                  <a:srgbClr val="0D1B2A"/>
                </a:solidFill>
                <a:latin typeface="DM Sans"/>
              </a:rPr>
              <a:t>Croissance des écoles actives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Écoles actives</c:v>
                </c:pt>
              </c:strCache>
            </c:strRef>
          </c:tx>
          <c:spPr>
            <a:solidFill>
              <a:srgbClr val="FF6B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DM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Fév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Juin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14</c:v>
                </c:pt>
                <c:pt idx="2">
                  <c:v>19</c:v>
                </c:pt>
                <c:pt idx="3">
                  <c:v>27</c:v>
                </c:pt>
                <c:pt idx="4">
                  <c:v>34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DM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A7A6E"/>
                </a:solidFill>
                <a:latin typeface="DM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8E2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A7A6E"/>
                </a:solidFill>
                <a:latin typeface="DM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1" i="0" u="none" strike="noStrike">
                <a:solidFill>
                  <a:srgbClr val="0D1B2A"/>
                </a:solidFill>
                <a:latin typeface="DM Sans"/>
              </a:defRPr>
            </a:pPr>
            <a:r>
              <a:rPr sz="1200" b="1" i="0" u="none" strike="noStrike">
                <a:solidFill>
                  <a:srgbClr val="0D1B2A"/>
                </a:solidFill>
                <a:latin typeface="DM Sans"/>
              </a:rPr>
              <a:t>Répartition des utilisateurs par rôle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2B"/>
              </a:solidFill>
              <a:effectLst/>
            </c:spPr>
          </c:dPt>
          <c:dPt>
            <c:idx val="1"/>
            <c:bubble3D val="0"/>
            <c:spPr>
              <a:solidFill>
                <a:srgbClr val="2C4A6E"/>
              </a:solidFill>
              <a:effectLst/>
            </c:spPr>
          </c:dPt>
          <c:dPt>
            <c:idx val="2"/>
            <c:bubble3D val="0"/>
            <c:spPr>
              <a:solidFill>
                <a:srgbClr val="FFB347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DM Sa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DM Sa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DM San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Élèves</c:v>
                </c:pt>
                <c:pt idx="1">
                  <c:v>Enseignants</c:v>
                </c:pt>
                <c:pt idx="2">
                  <c:v>Administrateurs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68</c:v>
                </c:pt>
                <c:pt idx="1">
                  <c:v>24</c:v>
                </c:pt>
                <c:pt idx="2">
                  <c:v>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8A7A6E"/>
              </a:solidFill>
              <a:latin typeface="DM Sans"/>
              <a:cs typeface="DM Sa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926080"/>
            <a:ext cx="6858000" cy="6858000"/>
          </a:xfrm>
          <a:prstGeom prst="ellipse">
            <a:avLst/>
          </a:prstGeom>
          <a:solidFill>
            <a:srgbClr val="FF6B2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754880"/>
            <a:ext cx="5486400" cy="5486400"/>
          </a:xfrm>
          <a:prstGeom prst="ellipse">
            <a:avLst/>
          </a:prstGeom>
          <a:solidFill>
            <a:srgbClr val="FFB34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404208" y="141732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FF6B2B">
              <a:alpha val="12000"/>
            </a:srgbClr>
          </a:solidFill>
          <a:ln w="9525">
            <a:solidFill>
              <a:srgbClr val="FF6B2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04208" y="141732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 OFFICIEL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ctr" indent="0" marL="0">
              <a:buNone/>
            </a:pPr>
            <a:r>
              <a:rPr lang="en-US" sz="6600" i="1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ctr"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371600" y="3456432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9AA5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PLATEFORME E-LEARNING IA · TUNISIE &amp; MAGHREB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3977640"/>
            <a:ext cx="78025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Charte graphique, structure et composants de référence pour toutes les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présentations de la plateforme EDUAI Learning.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75208" y="5074920"/>
            <a:ext cx="10241280" cy="0"/>
          </a:xfrm>
          <a:prstGeom prst="line">
            <a:avLst/>
          </a:prstGeom>
          <a:noFill/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5208" y="5257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75208" y="5742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E7B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SECTIONS MODÈLES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41368" y="5257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41368" y="5742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E7B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POLICES DE MARQUE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07528" y="52578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EdTech · IA · SaaS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07528" y="5742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50" kern="0" dirty="0">
                <a:solidFill>
                  <a:srgbClr val="6E7B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POSITIONNEMENT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0" y="6510528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EDUAI Learning — Document de marque confidentiel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94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9611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Structure du </a:t>
            </a:r>
            <a:pPr algn="l" indent="0" marL="0">
              <a:buNone/>
            </a:pPr>
            <a:r>
              <a:rPr lang="en-US" sz="38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modèle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Charte graphique et quinze mises en page de référence, à dupliquer et adapter pour chaque nouvelle présentation EDUAI.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44752" y="2148840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Palette de couleurs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102352" y="2148840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Typographie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11312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759952" y="2148840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Bibliothèque d'icônes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871216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2871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44752" y="2871216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Composants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2871216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3712" y="2871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102352" y="2871216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Graphiques de données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2871216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11312" y="28712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06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759952" y="2871216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Séparateur de section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593592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07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444752" y="3593592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Cartes de contenu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0" y="3593592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53712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08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102352" y="3593592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 technique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593592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11312" y="35935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09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759952" y="3593592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/ étapes numérotées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315968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96112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1444752" y="4315968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Rôles &amp; profils (LMS)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89120" y="4315968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53712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11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5102352" y="4315968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Grille tarifaire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46720" y="4315968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211312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12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8759952" y="4315968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Tableau de bord KPI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" y="5038344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96112" y="5038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13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1444752" y="5038344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89120" y="5038344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53712" y="5038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14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5102352" y="5038344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Feuille de route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46720" y="5038344"/>
            <a:ext cx="34015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211312" y="5038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15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8759952" y="5038344"/>
            <a:ext cx="25328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Clôture &amp; appel à l'action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CHARTE GRAPHIQUE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Palette de </a:t>
            </a:r>
            <a:pPr indent="0" marL="0">
              <a:buNone/>
            </a:pPr>
            <a:r>
              <a:rPr lang="en-US" sz="34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couleurs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Ces teintes officielles peuvent être utilisées librement dans toute présentation EDUAI Learning.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33476" y="2084832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6B2B"/>
          </a:solidFill>
          <a:ln/>
        </p:spPr>
      </p:sp>
      <p:sp>
        <p:nvSpPr>
          <p:cNvPr id="7" name="Text 5"/>
          <p:cNvSpPr/>
          <p:nvPr/>
        </p:nvSpPr>
        <p:spPr>
          <a:xfrm>
            <a:off x="833476" y="332841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Orange Signature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3476" y="35478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#FF6B2B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33476" y="37307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Actions, CTA, accents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73172" y="2084832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B347"/>
          </a:solidFill>
          <a:ln/>
        </p:spPr>
      </p:sp>
      <p:sp>
        <p:nvSpPr>
          <p:cNvPr id="11" name="Text 9"/>
          <p:cNvSpPr/>
          <p:nvPr/>
        </p:nvSpPr>
        <p:spPr>
          <a:xfrm>
            <a:off x="2973172" y="332841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Orange Lumière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73172" y="35478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#FFB347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3172" y="37307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Titres sur fond sombre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12868" y="2084832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8C42"/>
          </a:solidFill>
          <a:ln/>
        </p:spPr>
      </p:sp>
      <p:sp>
        <p:nvSpPr>
          <p:cNvPr id="15" name="Text 13"/>
          <p:cNvSpPr/>
          <p:nvPr/>
        </p:nvSpPr>
        <p:spPr>
          <a:xfrm>
            <a:off x="5112868" y="332841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Orange Chaud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12868" y="35478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#FF8C42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12868" y="37307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Dégradés, survols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252564" y="2084832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0E6"/>
          </a:solidFill>
          <a:ln w="9525">
            <a:solidFill>
              <a:srgbClr val="0D1B2A">
                <a:alpha val="1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52564" y="332841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Orange Pâle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52564" y="35478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#FFF0E6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52564" y="37307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Fonds de badges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392260" y="2084832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9392260" y="3328416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Navy Profond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92260" y="3547872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#0D1B2A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92260" y="37307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Fonds de section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33476" y="426110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1A2E4A"/>
          </a:solidFill>
          <a:ln/>
        </p:spPr>
      </p:sp>
      <p:sp>
        <p:nvSpPr>
          <p:cNvPr id="27" name="Text 25"/>
          <p:cNvSpPr/>
          <p:nvPr/>
        </p:nvSpPr>
        <p:spPr>
          <a:xfrm>
            <a:off x="833476" y="550468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Navy Moyen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3476" y="572414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#1A2E4A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3476" y="59070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Cartes accentuées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73172" y="426110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2C4A6E"/>
          </a:solidFill>
          <a:ln/>
        </p:spPr>
      </p:sp>
      <p:sp>
        <p:nvSpPr>
          <p:cNvPr id="31" name="Text 29"/>
          <p:cNvSpPr/>
          <p:nvPr/>
        </p:nvSpPr>
        <p:spPr>
          <a:xfrm>
            <a:off x="2973172" y="550468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Navy Doux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73172" y="572414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#2C4A6E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73172" y="59070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Éléments secondaires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112868" y="426110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8F0"/>
          </a:solidFill>
          <a:ln w="9525">
            <a:solidFill>
              <a:srgbClr val="0D1B2A">
                <a:alpha val="1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12868" y="550468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Crème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12868" y="572414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#FFF8F0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12868" y="59070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Fonds clairs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52564" y="426110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5EDE4"/>
          </a:solidFill>
          <a:ln w="9525">
            <a:solidFill>
              <a:srgbClr val="0D1B2A">
                <a:alpha val="1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2564" y="550468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Crème Moyen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252564" y="572414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#F5EDE4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52564" y="59070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Fonds de cartes discrets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392260" y="426110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8A7A6E"/>
          </a:solidFill>
          <a:ln/>
        </p:spPr>
      </p:sp>
      <p:sp>
        <p:nvSpPr>
          <p:cNvPr id="43" name="Text 41"/>
          <p:cNvSpPr/>
          <p:nvPr/>
        </p:nvSpPr>
        <p:spPr>
          <a:xfrm>
            <a:off x="9392260" y="5504688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Gris Chaud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92260" y="5724144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#8A7A6E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392260" y="590702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Texte secondaire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CHARTE GRAPHIQUE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Typo</a:t>
            </a:r>
            <a:pPr indent="0" marL="0">
              <a:buNone/>
            </a:pPr>
            <a:r>
              <a:rPr lang="en-US" sz="34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graphie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 polices officielles, à utiliser exactement selon ces rôles.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25780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3774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Cormorant Garamond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050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Titres, chiffres clés, accents en italique orange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4480560"/>
            <a:ext cx="4526280" cy="0"/>
          </a:xfrm>
          <a:prstGeom prst="line">
            <a:avLst/>
          </a:prstGeom>
          <a:noFill/>
          <a:ln w="9525">
            <a:solidFill>
              <a:srgbClr val="0D1B2A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64515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EDUAI Learning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160520" y="4690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 300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97280" y="510235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EDUAI Learning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160520" y="51480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Regular 400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97280" y="5559552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EDUAI Learning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160520" y="56052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Italique 400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5257800" cy="3977640"/>
          </a:xfrm>
          <a:prstGeom prst="roundRect">
            <a:avLst>
              <a:gd name="adj" fmla="val 3218"/>
            </a:avLst>
          </a:prstGeom>
          <a:solidFill>
            <a:srgbClr val="1A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3774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6675120" y="37033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DM Sans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40507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Corps de texte, légendes, boutons, étiquettes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4480560"/>
            <a:ext cx="452628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6451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EDUAI Learning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738360" y="46908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Regular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75120" y="510235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EDUAI Learning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738360" y="514807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 / Bold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75120" y="5623560"/>
            <a:ext cx="452628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5742432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D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Titre 36–66pt  ·  Sous-titre 22–28pt  ·  Corps 11–14pt  ·  Légende 8–10pt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CHARTE GRAPHIQUE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Bibliothèque </a:t>
            </a:r>
            <a:pPr indent="0" marL="0">
              <a:buNone/>
            </a:pPr>
            <a:r>
              <a:rPr lang="en-US" sz="34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d'icônes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Jeu d'icônes officiel EDUAI — toujours dans un cercle de couleur, jamais utilisées seules.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5168" y="214884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FFF8F0"/>
          </a:solidFill>
          <a:ln/>
        </p:spPr>
      </p:sp>
      <p:sp>
        <p:nvSpPr>
          <p:cNvPr id="7" name="Shape 5"/>
          <p:cNvSpPr/>
          <p:nvPr/>
        </p:nvSpPr>
        <p:spPr>
          <a:xfrm>
            <a:off x="1116940" y="2350008"/>
            <a:ext cx="768096" cy="768096"/>
          </a:xfrm>
          <a:prstGeom prst="ellipse">
            <a:avLst/>
          </a:prstGeom>
          <a:solidFill>
            <a:srgbClr val="FFF0E6"/>
          </a:solidFill>
          <a:ln/>
        </p:spPr>
      </p:sp>
      <p:sp>
        <p:nvSpPr>
          <p:cNvPr id="8" name="Text 6"/>
          <p:cNvSpPr/>
          <p:nvPr/>
        </p:nvSpPr>
        <p:spPr>
          <a:xfrm>
            <a:off x="1116940" y="235000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00888" y="319125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Éducation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3112" y="214884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FFF8F0"/>
          </a:solidFill>
          <a:ln/>
        </p:spPr>
      </p:sp>
      <p:sp>
        <p:nvSpPr>
          <p:cNvPr id="11" name="Shape 9"/>
          <p:cNvSpPr/>
          <p:nvPr/>
        </p:nvSpPr>
        <p:spPr>
          <a:xfrm>
            <a:off x="2954884" y="2350008"/>
            <a:ext cx="768096" cy="768096"/>
          </a:xfrm>
          <a:prstGeom prst="ellipse">
            <a:avLst/>
          </a:prstGeom>
          <a:solidFill>
            <a:srgbClr val="FFF0E6"/>
          </a:solidFill>
          <a:ln/>
        </p:spPr>
      </p:sp>
      <p:sp>
        <p:nvSpPr>
          <p:cNvPr id="12" name="Text 10"/>
          <p:cNvSpPr/>
          <p:nvPr/>
        </p:nvSpPr>
        <p:spPr>
          <a:xfrm>
            <a:off x="2954884" y="235000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38832" y="319125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 &amp; contenu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31056" y="214884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FFF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4792828" y="2350008"/>
            <a:ext cx="768096" cy="768096"/>
          </a:xfrm>
          <a:prstGeom prst="ellipse">
            <a:avLst/>
          </a:prstGeom>
          <a:solidFill>
            <a:srgbClr val="FFF0E6"/>
          </a:solidFill>
          <a:ln/>
        </p:spPr>
      </p:sp>
      <p:sp>
        <p:nvSpPr>
          <p:cNvPr id="16" name="Text 14"/>
          <p:cNvSpPr/>
          <p:nvPr/>
        </p:nvSpPr>
        <p:spPr>
          <a:xfrm>
            <a:off x="4792828" y="235000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76776" y="319125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Intelligence 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9000" y="214884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FFF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630772" y="2350008"/>
            <a:ext cx="768096" cy="768096"/>
          </a:xfrm>
          <a:prstGeom prst="ellipse">
            <a:avLst/>
          </a:prstGeom>
          <a:solidFill>
            <a:srgbClr val="FFF0E6"/>
          </a:solidFill>
          <a:ln/>
        </p:spPr>
      </p:sp>
      <p:sp>
        <p:nvSpPr>
          <p:cNvPr id="20" name="Text 18"/>
          <p:cNvSpPr/>
          <p:nvPr/>
        </p:nvSpPr>
        <p:spPr>
          <a:xfrm>
            <a:off x="6630772" y="235000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4720" y="319125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Assistant / Chat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006944" y="214884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FFF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8468716" y="2350008"/>
            <a:ext cx="768096" cy="768096"/>
          </a:xfrm>
          <a:prstGeom prst="ellipse">
            <a:avLst/>
          </a:prstGeom>
          <a:solidFill>
            <a:srgbClr val="FFF0E6"/>
          </a:solidFill>
          <a:ln/>
        </p:spPr>
      </p:sp>
      <p:sp>
        <p:nvSpPr>
          <p:cNvPr id="24" name="Text 22"/>
          <p:cNvSpPr/>
          <p:nvPr/>
        </p:nvSpPr>
        <p:spPr>
          <a:xfrm>
            <a:off x="8468716" y="235000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052664" y="319125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Sécurité &amp; RBAC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44888" y="2148840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FFF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06660" y="2350008"/>
            <a:ext cx="768096" cy="768096"/>
          </a:xfrm>
          <a:prstGeom prst="ellipse">
            <a:avLst/>
          </a:prstGeom>
          <a:solidFill>
            <a:srgbClr val="FFF0E6"/>
          </a:solidFill>
          <a:ln/>
        </p:spPr>
      </p:sp>
      <p:sp>
        <p:nvSpPr>
          <p:cNvPr id="28" name="Text 26"/>
          <p:cNvSpPr/>
          <p:nvPr/>
        </p:nvSpPr>
        <p:spPr>
          <a:xfrm>
            <a:off x="10306660" y="2350008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890608" y="319125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5168" y="3904488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A2E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6940" y="4105656"/>
            <a:ext cx="768096" cy="768096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16940" y="41056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00888" y="4946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Analytique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93112" y="3904488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A2E4A"/>
          </a:solidFill>
          <a:ln/>
        </p:spPr>
      </p:sp>
      <p:sp>
        <p:nvSpPr>
          <p:cNvPr id="35" name="Shape 33"/>
          <p:cNvSpPr/>
          <p:nvPr/>
        </p:nvSpPr>
        <p:spPr>
          <a:xfrm>
            <a:off x="2954884" y="4105656"/>
            <a:ext cx="768096" cy="768096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2954884" y="41056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538832" y="4946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Paramètres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31056" y="3904488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A2E4A"/>
          </a:solidFill>
          <a:ln/>
        </p:spPr>
      </p:sp>
      <p:sp>
        <p:nvSpPr>
          <p:cNvPr id="39" name="Shape 37"/>
          <p:cNvSpPr/>
          <p:nvPr/>
        </p:nvSpPr>
        <p:spPr>
          <a:xfrm>
            <a:off x="4792828" y="4105656"/>
            <a:ext cx="768096" cy="768096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792828" y="41056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376776" y="4946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Multilingue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69000" y="3904488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A2E4A"/>
          </a:solidFill>
          <a:ln/>
        </p:spPr>
      </p:sp>
      <p:sp>
        <p:nvSpPr>
          <p:cNvPr id="43" name="Shape 41"/>
          <p:cNvSpPr/>
          <p:nvPr/>
        </p:nvSpPr>
        <p:spPr>
          <a:xfrm>
            <a:off x="6630772" y="4105656"/>
            <a:ext cx="768096" cy="768096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630772" y="41056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214720" y="4946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06944" y="3904488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A2E4A"/>
          </a:solidFill>
          <a:ln/>
        </p:spPr>
      </p:sp>
      <p:sp>
        <p:nvSpPr>
          <p:cNvPr id="47" name="Shape 45"/>
          <p:cNvSpPr/>
          <p:nvPr/>
        </p:nvSpPr>
        <p:spPr>
          <a:xfrm>
            <a:off x="8468716" y="4105656"/>
            <a:ext cx="768096" cy="768096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468716" y="41056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8052664" y="4946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844888" y="3904488"/>
            <a:ext cx="1691640" cy="1554480"/>
          </a:xfrm>
          <a:prstGeom prst="roundRect">
            <a:avLst>
              <a:gd name="adj" fmla="val 7059"/>
            </a:avLst>
          </a:prstGeom>
          <a:solidFill>
            <a:srgbClr val="1A2E4A"/>
          </a:solidFill>
          <a:ln/>
        </p:spPr>
      </p:sp>
      <p:sp>
        <p:nvSpPr>
          <p:cNvPr id="51" name="Shape 49"/>
          <p:cNvSpPr/>
          <p:nvPr/>
        </p:nvSpPr>
        <p:spPr>
          <a:xfrm>
            <a:off x="10306660" y="4105656"/>
            <a:ext cx="768096" cy="768096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306660" y="4105656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9890608" y="494690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Croissance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CHARTE GRAPHIQUE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Composants </a:t>
            </a:r>
            <a:pPr indent="0" marL="0">
              <a:buNone/>
            </a:pPr>
            <a:r>
              <a:rPr lang="en-US" sz="34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Boutons, étiquettes et badges prêts à copier dans vos propres diapositives.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BOUTONS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FF6B2B"/>
          </a:solidFill>
          <a:ln/>
          <a:effectLst>
            <a:outerShdw sx="100000" sy="100000" kx="0" ky="0" algn="bl" rotWithShape="0" blurRad="127000" dist="38100" dir="5400000">
              <a:srgbClr val="FF6B2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 principale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3774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1B2A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 secondaire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2377440"/>
            <a:ext cx="2103120" cy="502920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 fond sombre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ÉTIQUETTES &amp; BADGES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1531620" cy="365760"/>
          </a:xfrm>
          <a:prstGeom prst="roundRect">
            <a:avLst>
              <a:gd name="adj" fmla="val 50000"/>
            </a:avLst>
          </a:prstGeom>
          <a:solidFill>
            <a:srgbClr val="FF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66160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Tunisie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4308" y="3566160"/>
            <a:ext cx="1668780" cy="365760"/>
          </a:xfrm>
          <a:prstGeom prst="roundRect">
            <a:avLst>
              <a:gd name="adj" fmla="val 50000"/>
            </a:avLst>
          </a:prstGeom>
          <a:solidFill>
            <a:srgbClr val="FF6B2B"/>
          </a:solidFill>
          <a:ln/>
        </p:spPr>
      </p:sp>
      <p:sp>
        <p:nvSpPr>
          <p:cNvPr id="17" name="Text 15"/>
          <p:cNvSpPr/>
          <p:nvPr/>
        </p:nvSpPr>
        <p:spPr>
          <a:xfrm>
            <a:off x="2464308" y="3566160"/>
            <a:ext cx="16687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Populaire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34256" y="3566160"/>
            <a:ext cx="1531620" cy="365760"/>
          </a:xfrm>
          <a:prstGeom prst="roundRect">
            <a:avLst>
              <a:gd name="adj" fmla="val 50000"/>
            </a:avLst>
          </a:prstGeom>
          <a:solidFill>
            <a:srgbClr val="3A2820"/>
          </a:solidFill>
          <a:ln/>
        </p:spPr>
      </p:sp>
      <p:sp>
        <p:nvSpPr>
          <p:cNvPr id="19" name="Text 17"/>
          <p:cNvSpPr/>
          <p:nvPr/>
        </p:nvSpPr>
        <p:spPr>
          <a:xfrm>
            <a:off x="4334256" y="3566160"/>
            <a:ext cx="15316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EN-TÊTE DE SECTION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5537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— EXEMPLE D'EYEBROW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CALLOUT CHIFFRÉ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358384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01600" dist="25400" dir="5400000">
              <a:srgbClr val="0D1B2A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54132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+8h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" y="5852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GAGNÉES / SEMAINE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49040" y="5074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ÉLÉMENT DE LISTE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5376672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3931920" y="5568696"/>
            <a:ext cx="73152" cy="73152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53766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Génération de cours IA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0" y="5074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ICÔNE + LIBELLÉ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537667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0E6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0" y="5376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138160" y="537667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Espace Élève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— CHARTE GRAPHIQUE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Graphiques de </a:t>
            </a:r>
            <a:pPr indent="0" marL="0">
              <a:buNone/>
            </a:pPr>
            <a:r>
              <a:rPr lang="en-US" sz="34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données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Modèles de graphiques natifs PowerPoint, aux couleurs de la marque, prêts à recevoir vos propres données.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" y="205740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400800" y="2057400"/>
          <a:ext cx="5074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840480"/>
            <a:ext cx="5943600" cy="5943600"/>
          </a:xfrm>
          <a:prstGeom prst="ellipse">
            <a:avLst/>
          </a:prstGeom>
          <a:solidFill>
            <a:srgbClr val="FF6B2B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FF6B2B">
                    <a:alpha val="2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SECTION — TITRE DE LA PARTIE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Vision &amp; </a:t>
            </a:r>
            <a:pPr algn="l" indent="0" marL="0">
              <a:buNone/>
            </a:pPr>
            <a:r>
              <a:rPr lang="en-US" sz="4400" i="1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positionnement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1605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AAB4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Court paragraphe d'introduction qui pose le contexte de la section : marché visé, objectif de la partie, ou message clé à retenir.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7B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— CARTES DE CONTENU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Deux idées, </a:t>
            </a:r>
            <a:pPr indent="0" marL="0">
              <a:buNone/>
            </a:pPr>
            <a:r>
              <a:rPr lang="en-US" sz="34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deux tons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carte claire pour un texte + carte accentuée pour un message fort — à utiliser en duo ou seules.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257800" cy="3977640"/>
          </a:xfrm>
          <a:prstGeom prst="roundRect">
            <a:avLst>
              <a:gd name="adj" fmla="val 3218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FF0E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Notre mission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Démocratiser un enseignement personnalisé par l'IA pour chaque élève tunisien et maghrébin, en français et en arabe.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97280" y="52120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FF0E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21208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Tunisie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31720" y="52120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FF0E6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521208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Maghreb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521208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FF0E6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5212080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Bilingue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2148840"/>
            <a:ext cx="5257800" cy="3977640"/>
          </a:xfrm>
          <a:prstGeom prst="roundRect">
            <a:avLst>
              <a:gd name="adj" fmla="val 3218"/>
            </a:avLst>
          </a:prstGeom>
          <a:solidFill>
            <a:srgbClr val="1A2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514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32461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Proposition de valeur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374904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B9C2C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enseignant gagne 8h par semaine grâce à la génération automatique de cours. Une école réduit ses coûts administratifs de 40%.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52120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6B2B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52120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Gain de temps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29600" y="52120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6B2B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52120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Réduction coûts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784080" y="52120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6B2B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784080" y="52120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Résultats élèves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— ARCHITECTURE TECHNIQUE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589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Stack moderne, </a:t>
            </a:r>
            <a:pPr indent="0" marL="0">
              <a:buNone/>
            </a:pPr>
            <a:r>
              <a:rPr lang="en-US" sz="3200" i="1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flux clair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-624992" y="16916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624992" y="1819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-551840" y="222199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-551840" y="2514600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Web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67816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25016" y="16916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25016" y="1819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98168" y="222199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98168" y="2514600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Mobile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17824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75024" y="16916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75024" y="1819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48176" y="222199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48176" y="2514600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API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67832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25032" y="16916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5032" y="1819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8184" y="222199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8184" y="2514600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RAG + LLM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17840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75040" y="16916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5040" y="1819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48192" y="222199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48192" y="2514600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Vector DB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667848" y="205740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125048" y="169164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25048" y="181965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198200" y="2221992"/>
            <a:ext cx="1545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98200" y="2514600"/>
            <a:ext cx="1545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Paymee/Konnect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9448" y="35204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0616" y="3863340"/>
            <a:ext cx="91440" cy="9144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36" name="Text 34"/>
          <p:cNvSpPr/>
          <p:nvPr/>
        </p:nvSpPr>
        <p:spPr>
          <a:xfrm>
            <a:off x="993496" y="36301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3496" y="39227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REST · Python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98368" y="35204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99536" y="3863340"/>
            <a:ext cx="91440" cy="9144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0" name="Text 38"/>
          <p:cNvSpPr/>
          <p:nvPr/>
        </p:nvSpPr>
        <p:spPr>
          <a:xfrm>
            <a:off x="3782416" y="36301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FAISS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82416" y="39227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Vector Database · RAG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87288" y="35204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8456" y="3863340"/>
            <a:ext cx="91440" cy="9144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4" name="Text 42"/>
          <p:cNvSpPr/>
          <p:nvPr/>
        </p:nvSpPr>
        <p:spPr>
          <a:xfrm>
            <a:off x="6571336" y="36301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MiniMax / LLM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71336" y="39227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Génération IA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976208" y="352044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77376" y="3863340"/>
            <a:ext cx="91440" cy="9144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8" name="Text 46"/>
          <p:cNvSpPr/>
          <p:nvPr/>
        </p:nvSpPr>
        <p:spPr>
          <a:xfrm>
            <a:off x="9360256" y="36301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60256" y="392277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de données principale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9448" y="44805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0616" y="4823460"/>
            <a:ext cx="91440" cy="9144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52" name="Text 50"/>
          <p:cNvSpPr/>
          <p:nvPr/>
        </p:nvSpPr>
        <p:spPr>
          <a:xfrm>
            <a:off x="993496" y="45902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93496" y="488289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Web · Dashboard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398368" y="44805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99536" y="4823460"/>
            <a:ext cx="91440" cy="9144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56" name="Text 54"/>
          <p:cNvSpPr/>
          <p:nvPr/>
        </p:nvSpPr>
        <p:spPr>
          <a:xfrm>
            <a:off x="3782416" y="45902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Flutter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782416" y="488289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iOS + Android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87288" y="44805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88456" y="4823460"/>
            <a:ext cx="91440" cy="9144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60" name="Text 58"/>
          <p:cNvSpPr/>
          <p:nvPr/>
        </p:nvSpPr>
        <p:spPr>
          <a:xfrm>
            <a:off x="6571336" y="45902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Paymee · Konnect · Flouci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571336" y="488289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Paiement local sécurisé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976208" y="448056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77376" y="4823460"/>
            <a:ext cx="91440" cy="91440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64" name="Text 62"/>
          <p:cNvSpPr/>
          <p:nvPr/>
        </p:nvSpPr>
        <p:spPr>
          <a:xfrm>
            <a:off x="9360256" y="459028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Render / Vercel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360256" y="4882896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Déploiement Cloud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7B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— PIPELINE 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Processus en </a:t>
            </a:r>
            <a:pPr indent="0" marL="0">
              <a:buNone/>
            </a:pPr>
            <a:r>
              <a:rPr lang="en-US" sz="32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quatre étapes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4447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générique pour tout flux séquentiel : pipeline RAG, onboarding, ou parcours utilisateur.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0" cy="502920"/>
          </a:xfrm>
          <a:prstGeom prst="line">
            <a:avLst/>
          </a:prstGeom>
          <a:noFill/>
          <a:ln w="25400">
            <a:solidFill>
              <a:srgbClr val="FF6B2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48840"/>
            <a:ext cx="457200" cy="457200"/>
          </a:xfrm>
          <a:prstGeom prst="ellipse">
            <a:avLst/>
          </a:prstGeom>
          <a:solidFill>
            <a:srgbClr val="FF6B2B"/>
          </a:solidFill>
          <a:ln/>
          <a:effectLst>
            <a:outerShdw sx="100000" sy="100000" kx="0" ky="0" algn="bl" rotWithShape="0" blurRad="76200" dist="25400" dir="5400000">
              <a:srgbClr val="FF6B2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1214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Ingestion de ressources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4414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Chargement des documents et contenus sources.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60120" y="3566160"/>
            <a:ext cx="0" cy="502920"/>
          </a:xfrm>
          <a:prstGeom prst="line">
            <a:avLst/>
          </a:prstGeom>
          <a:noFill/>
          <a:ln w="25400">
            <a:solidFill>
              <a:srgbClr val="FF6B2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FF6B2B"/>
          </a:solidFill>
          <a:ln/>
          <a:effectLst>
            <a:outerShdw sx="100000" sy="100000" kx="0" ky="0" algn="bl" rotWithShape="0" blurRad="76200" dist="25400" dir="5400000">
              <a:srgbClr val="FF6B2B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081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Nettoyage &amp; normalisation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4015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 du texte, structuration bilingue AR/FR.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4526280"/>
            <a:ext cx="0" cy="502920"/>
          </a:xfrm>
          <a:prstGeom prst="line">
            <a:avLst/>
          </a:prstGeom>
          <a:noFill/>
          <a:ln w="25400">
            <a:solidFill>
              <a:srgbClr val="FF6B2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FF6B2B"/>
          </a:solidFill>
          <a:ln/>
          <a:effectLst>
            <a:outerShdw sx="100000" sy="100000" kx="0" ky="0" algn="bl" rotWithShape="0" blurRad="76200" dist="25400" dir="5400000">
              <a:srgbClr val="FF6B2B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Traitement sémantique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08760" y="43616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Découpe et indexation intelligente du contenu.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FF6B2B"/>
          </a:solidFill>
          <a:ln/>
          <a:effectLst>
            <a:outerShdw sx="100000" sy="100000" kx="0" ky="0" algn="bl" rotWithShape="0" blurRad="76200" dist="25400" dir="5400000">
              <a:srgbClr val="FF6B2B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0017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Génération &amp; restitution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53218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Réponse contextualisée délivrée à l'utilisateur.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49440" y="2148840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FFF8F0"/>
          </a:solidFill>
          <a:ln w="9525">
            <a:solidFill>
              <a:srgbClr val="0D1B2A">
                <a:alpha val="6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27706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Ingestion PDF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Manuels et cours officiels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39528" y="2148840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FFF8F0"/>
          </a:solidFill>
          <a:ln w="9525">
            <a:solidFill>
              <a:srgbClr val="0D1B2A">
                <a:alpha val="6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8128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168128" y="277063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OCR bilingue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68128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Arabe &amp; français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49440" y="3767328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FFF8F0"/>
          </a:solidFill>
          <a:ln w="9525">
            <a:solidFill>
              <a:srgbClr val="0D1B2A">
                <a:alpha val="6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3950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78040" y="43891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Chunking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78040" y="4681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Segments cohérents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939528" y="3767328"/>
            <a:ext cx="2788920" cy="1417320"/>
          </a:xfrm>
          <a:prstGeom prst="roundRect">
            <a:avLst>
              <a:gd name="adj" fmla="val 7742"/>
            </a:avLst>
          </a:prstGeom>
          <a:solidFill>
            <a:srgbClr val="FFF8F0"/>
          </a:solidFill>
          <a:ln w="9525">
            <a:solidFill>
              <a:srgbClr val="0D1B2A">
                <a:alpha val="6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68128" y="39502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68128" y="438912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168128" y="46817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Réponses contextualisées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— RÔLES &amp; PROFILS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 espace pour </a:t>
            </a:r>
            <a:pPr indent="0" marL="0">
              <a:buNone/>
            </a:pPr>
            <a:r>
              <a:rPr lang="en-US" sz="32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chaque profil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96316" y="1828800"/>
            <a:ext cx="3429000" cy="393192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16356" y="21488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FF0E6"/>
          </a:solidFill>
          <a:ln/>
        </p:spPr>
      </p:sp>
      <p:sp>
        <p:nvSpPr>
          <p:cNvPr id="7" name="Text 5"/>
          <p:cNvSpPr/>
          <p:nvPr/>
        </p:nvSpPr>
        <p:spPr>
          <a:xfrm>
            <a:off x="1016356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👩‍🏫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47876" y="2194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Enseignant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747876" y="2514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Création &amp; correction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16356" y="2926080"/>
            <a:ext cx="2788920" cy="0"/>
          </a:xfrm>
          <a:prstGeom prst="line">
            <a:avLst/>
          </a:prstGeom>
          <a:noFill/>
          <a:ln w="9525">
            <a:solidFill>
              <a:srgbClr val="0D1B2A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356" y="315468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99236" y="331927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3" name="Text 11"/>
          <p:cNvSpPr/>
          <p:nvPr/>
        </p:nvSpPr>
        <p:spPr>
          <a:xfrm>
            <a:off x="1382116" y="3154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Génération de cours 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16356" y="365760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99236" y="382219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82116" y="3657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Correction automatique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16356" y="416052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99236" y="432511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9" name="Text 17"/>
          <p:cNvSpPr/>
          <p:nvPr/>
        </p:nvSpPr>
        <p:spPr>
          <a:xfrm>
            <a:off x="1382116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Suivi de classe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1348" y="1828800"/>
            <a:ext cx="3429000" cy="393192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A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1388" y="21488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FF0E6"/>
          </a:solidFill>
          <a:ln/>
        </p:spPr>
      </p:sp>
      <p:sp>
        <p:nvSpPr>
          <p:cNvPr id="22" name="Text 20"/>
          <p:cNvSpPr/>
          <p:nvPr/>
        </p:nvSpPr>
        <p:spPr>
          <a:xfrm>
            <a:off x="4701388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32908" y="2194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Élève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432908" y="2514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Apprentissage guidé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1388" y="2926080"/>
            <a:ext cx="2788920" cy="0"/>
          </a:xfrm>
          <a:prstGeom prst="line">
            <a:avLst/>
          </a:prstGeom>
          <a:noFill/>
          <a:ln w="9525">
            <a:solidFill>
              <a:srgbClr val="0D1B2A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1388" y="315468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84268" y="331927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8" name="Text 26"/>
          <p:cNvSpPr/>
          <p:nvPr/>
        </p:nvSpPr>
        <p:spPr>
          <a:xfrm>
            <a:off x="5067148" y="3154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Tuteur IA personnalisé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1388" y="365760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4884268" y="382219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31" name="Text 29"/>
          <p:cNvSpPr/>
          <p:nvPr/>
        </p:nvSpPr>
        <p:spPr>
          <a:xfrm>
            <a:off x="5067148" y="3657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Exercices adaptatifs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1388" y="416052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4884268" y="432511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34" name="Text 32"/>
          <p:cNvSpPr/>
          <p:nvPr/>
        </p:nvSpPr>
        <p:spPr>
          <a:xfrm>
            <a:off x="5067148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Suivi de progression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66380" y="1828800"/>
            <a:ext cx="3429000" cy="393192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D1B2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86420" y="2148840"/>
            <a:ext cx="594360" cy="594360"/>
          </a:xfrm>
          <a:prstGeom prst="roundRect">
            <a:avLst>
              <a:gd name="adj" fmla="val 21538"/>
            </a:avLst>
          </a:prstGeom>
          <a:solidFill>
            <a:srgbClr val="FFF0E6"/>
          </a:solidFill>
          <a:ln/>
        </p:spPr>
      </p:sp>
      <p:sp>
        <p:nvSpPr>
          <p:cNvPr id="37" name="Text 35"/>
          <p:cNvSpPr/>
          <p:nvPr/>
        </p:nvSpPr>
        <p:spPr>
          <a:xfrm>
            <a:off x="838642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117940" y="2194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Administrateur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117940" y="2514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Pilotage établissement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86420" y="2926080"/>
            <a:ext cx="2788920" cy="0"/>
          </a:xfrm>
          <a:prstGeom prst="line">
            <a:avLst/>
          </a:prstGeom>
          <a:noFill/>
          <a:ln w="9525">
            <a:solidFill>
              <a:srgbClr val="0D1B2A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6420" y="315468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8569300" y="331927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3" name="Text 41"/>
          <p:cNvSpPr/>
          <p:nvPr/>
        </p:nvSpPr>
        <p:spPr>
          <a:xfrm>
            <a:off x="8752180" y="31546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Gestion des accès (RBAC)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86420" y="365760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45" name="Shape 43"/>
          <p:cNvSpPr/>
          <p:nvPr/>
        </p:nvSpPr>
        <p:spPr>
          <a:xfrm>
            <a:off x="8569300" y="382219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6" name="Text 44"/>
          <p:cNvSpPr/>
          <p:nvPr/>
        </p:nvSpPr>
        <p:spPr>
          <a:xfrm>
            <a:off x="8752180" y="36576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Tableau de bord global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86420" y="4160520"/>
            <a:ext cx="2788920" cy="384048"/>
          </a:xfrm>
          <a:prstGeom prst="roundRect">
            <a:avLst>
              <a:gd name="adj" fmla="val 19048"/>
            </a:avLst>
          </a:prstGeom>
          <a:solidFill>
            <a:srgbClr val="FFF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8569300" y="4325112"/>
            <a:ext cx="64008" cy="64008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9" name="Text 47"/>
          <p:cNvSpPr/>
          <p:nvPr/>
        </p:nvSpPr>
        <p:spPr>
          <a:xfrm>
            <a:off x="875218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Facturation &amp; wallet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— MODÈLE SAAS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5895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Des offres pour </a:t>
            </a:r>
            <a:pPr indent="0" marL="0">
              <a:buNone/>
            </a:pPr>
            <a:r>
              <a:rPr lang="en-US" sz="30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chaque échelle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4584" y="1691640"/>
            <a:ext cx="2606040" cy="39776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0D1B2A">
                <a:alpha val="7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D1B2A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8904" y="20116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DÉCOUVERTE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8904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8904" y="3063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DT / mois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8904" y="3474720"/>
            <a:ext cx="2057400" cy="0"/>
          </a:xfrm>
          <a:prstGeom prst="line">
            <a:avLst/>
          </a:prstGeom>
          <a:noFill/>
          <a:ln w="9525">
            <a:solidFill>
              <a:srgbClr val="0D1B2A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8904" y="374904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1" name="Text 9"/>
          <p:cNvSpPr/>
          <p:nvPr/>
        </p:nvSpPr>
        <p:spPr>
          <a:xfrm>
            <a:off x="993496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Assistant IA limité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8904" y="411480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3" name="Text 11"/>
          <p:cNvSpPr/>
          <p:nvPr/>
        </p:nvSpPr>
        <p:spPr>
          <a:xfrm>
            <a:off x="993496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classe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8904" y="448056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15" name="Text 13"/>
          <p:cNvSpPr/>
          <p:nvPr/>
        </p:nvSpPr>
        <p:spPr>
          <a:xfrm>
            <a:off x="993496" y="4389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email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0080" y="1691640"/>
            <a:ext cx="2606040" cy="39776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0D1B2A">
                <a:alpha val="7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D1B2A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4400" y="20116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ENSEIGNANT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4400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39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654400" y="3063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DT / mois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4400" y="3474720"/>
            <a:ext cx="2057400" cy="0"/>
          </a:xfrm>
          <a:prstGeom prst="line">
            <a:avLst/>
          </a:prstGeom>
          <a:noFill/>
          <a:ln w="9525">
            <a:solidFill>
              <a:srgbClr val="0D1B2A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4400" y="374904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2" name="Text 20"/>
          <p:cNvSpPr/>
          <p:nvPr/>
        </p:nvSpPr>
        <p:spPr>
          <a:xfrm>
            <a:off x="3818992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IA illimitée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4400" y="411480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4" name="Text 22"/>
          <p:cNvSpPr/>
          <p:nvPr/>
        </p:nvSpPr>
        <p:spPr>
          <a:xfrm>
            <a:off x="3818992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classes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4400" y="448056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26" name="Text 24"/>
          <p:cNvSpPr/>
          <p:nvPr/>
        </p:nvSpPr>
        <p:spPr>
          <a:xfrm>
            <a:off x="3818992" y="4389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 PDF/DOCX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05576" y="1691640"/>
            <a:ext cx="2606040" cy="3977640"/>
          </a:xfrm>
          <a:prstGeom prst="roundRect">
            <a:avLst>
              <a:gd name="adj" fmla="val 4912"/>
            </a:avLst>
          </a:prstGeom>
          <a:solidFill>
            <a:srgbClr val="1A2E4A"/>
          </a:solidFill>
          <a:ln/>
          <a:effectLst>
            <a:outerShdw sx="100000" sy="100000" kx="0" ky="0" algn="bl" rotWithShape="0" blurRad="152400" dist="50800" dir="5400000">
              <a:srgbClr val="0D1B2A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22796" y="15453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F6B2B"/>
          </a:solidFill>
          <a:ln/>
        </p:spPr>
      </p:sp>
      <p:sp>
        <p:nvSpPr>
          <p:cNvPr id="29" name="Text 27"/>
          <p:cNvSpPr/>
          <p:nvPr/>
        </p:nvSpPr>
        <p:spPr>
          <a:xfrm>
            <a:off x="6822796" y="15453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POPULAIRE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79896" y="20116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ÉCOLE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79896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299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479896" y="3063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DT / mois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79896" y="3474720"/>
            <a:ext cx="2057400" cy="0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9896" y="3749040"/>
            <a:ext cx="54864" cy="5486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5" name="Text 33"/>
          <p:cNvSpPr/>
          <p:nvPr/>
        </p:nvSpPr>
        <p:spPr>
          <a:xfrm>
            <a:off x="6644488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E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Multi-établissement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79896" y="4114800"/>
            <a:ext cx="54864" cy="5486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7" name="Text 35"/>
          <p:cNvSpPr/>
          <p:nvPr/>
        </p:nvSpPr>
        <p:spPr>
          <a:xfrm>
            <a:off x="6644488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E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RBAC complet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79896" y="4480560"/>
            <a:ext cx="54864" cy="54864"/>
          </a:xfrm>
          <a:prstGeom prst="ellipse">
            <a:avLst/>
          </a:prstGeom>
          <a:solidFill>
            <a:srgbClr val="FFB347"/>
          </a:solidFill>
          <a:ln/>
        </p:spPr>
      </p:sp>
      <p:sp>
        <p:nvSpPr>
          <p:cNvPr id="39" name="Text 37"/>
          <p:cNvSpPr/>
          <p:nvPr/>
        </p:nvSpPr>
        <p:spPr>
          <a:xfrm>
            <a:off x="6644488" y="4389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DE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 prioritaire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31072" y="1691640"/>
            <a:ext cx="2606040" cy="39776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0D1B2A">
                <a:alpha val="7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D1B2A">
                <a:alpha val="7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305392" y="20116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305392" y="22860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Sur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devis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305392" y="30632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05392" y="3474720"/>
            <a:ext cx="2057400" cy="0"/>
          </a:xfrm>
          <a:prstGeom prst="line">
            <a:avLst/>
          </a:prstGeom>
          <a:noFill/>
          <a:ln w="9525">
            <a:solidFill>
              <a:srgbClr val="0D1B2A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05392" y="374904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6" name="Text 44"/>
          <p:cNvSpPr/>
          <p:nvPr/>
        </p:nvSpPr>
        <p:spPr>
          <a:xfrm>
            <a:off x="9469984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White-label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305392" y="411480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48" name="Text 46"/>
          <p:cNvSpPr/>
          <p:nvPr/>
        </p:nvSpPr>
        <p:spPr>
          <a:xfrm>
            <a:off x="9469984" y="4023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dédiée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305392" y="4480560"/>
            <a:ext cx="54864" cy="54864"/>
          </a:xfrm>
          <a:prstGeom prst="ellipse">
            <a:avLst/>
          </a:prstGeom>
          <a:solidFill>
            <a:srgbClr val="FF6B2B"/>
          </a:solidFill>
          <a:ln/>
        </p:spPr>
      </p:sp>
      <p:sp>
        <p:nvSpPr>
          <p:cNvPr id="50" name="Text 48"/>
          <p:cNvSpPr/>
          <p:nvPr/>
        </p:nvSpPr>
        <p:spPr>
          <a:xfrm>
            <a:off x="9469984" y="4389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Accompagnement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— TABLEAU DE BORD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5039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Les chiffres qui </a:t>
            </a:r>
            <a:pPr indent="0" marL="0">
              <a:buNone/>
            </a:pPr>
            <a:r>
              <a:rPr lang="en-US" sz="32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comptent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callout chiffré pour présenter traction, impact ou objectifs.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2600" y="2286000"/>
            <a:ext cx="25146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5480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+8h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5480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Gagnées / semaine / enseignant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5480" y="4133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↑ vs méthode classique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53232" y="2286000"/>
            <a:ext cx="25146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36112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-40%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36112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Coûts administratifs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36112" y="4133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 grâce au LMS intégré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23864" y="2286000"/>
            <a:ext cx="25146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06744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Langues supportées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6744" y="4133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 · FR · 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94496" y="2286000"/>
            <a:ext cx="25146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0D1B2A">
                <a:alpha val="6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77376" y="26060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10 → 10K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177376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1B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Écoles, sans refonte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77376" y="4133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 scalable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— 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80467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Trois moteurs de </a:t>
            </a:r>
            <a:pPr indent="0" marL="0">
              <a:buNone/>
            </a:pPr>
            <a:r>
              <a:rPr lang="en-US" sz="32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revenus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96316" y="1783080"/>
            <a:ext cx="3429000" cy="3657600"/>
          </a:xfrm>
          <a:prstGeom prst="roundRect">
            <a:avLst>
              <a:gd name="adj" fmla="val 373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27000" dist="38100" dir="5400000">
              <a:srgbClr val="0D1B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53716" y="16459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dirty="0">
                <a:solidFill>
                  <a:srgbClr val="FFFFFF">
                    <a:alpha val="1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16356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16356" y="2697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Acquisition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16356" y="32004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8DE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Assistant IA gratuit pour attirer enseignants et élèves dès le premier contact.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16356" y="48463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6B2B">
              <a:alpha val="2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356" y="4846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81348" y="1783080"/>
            <a:ext cx="3429000" cy="3657600"/>
          </a:xfrm>
          <a:prstGeom prst="roundRect">
            <a:avLst>
              <a:gd name="adj" fmla="val 3733"/>
            </a:avLst>
          </a:prstGeom>
          <a:solidFill>
            <a:srgbClr val="FF6B2B"/>
          </a:solidFill>
          <a:ln/>
          <a:effectLst>
            <a:outerShdw sx="100000" sy="100000" kx="0" ky="0" algn="bl" rotWithShape="0" blurRad="127000" dist="38100" dir="5400000">
              <a:srgbClr val="0D1B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38748" y="16459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dirty="0">
                <a:solidFill>
                  <a:srgbClr val="FFFFFF">
                    <a:alpha val="1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02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701388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1388" y="2697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Monétisation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1388" y="32004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8DE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Vente de packs de prompts, contenus premium et abonnements par établissement.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1388" y="48463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01388" y="4846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66380" y="1783080"/>
            <a:ext cx="3429000" cy="365760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0D1B2A">
                <a:alpha val="8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0D1B2A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123780" y="16459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dirty="0">
                <a:solidFill>
                  <a:srgbClr val="0D1B2A">
                    <a:alpha val="12000"/>
                  </a:srgbClr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03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838642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86420" y="269748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Formation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86420" y="32004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8A7A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 certifiants pour les enseignants sur l'usage pédagogique de l'IA.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86420" y="48463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0E6"/>
          </a:solidFill>
          <a:ln/>
        </p:spPr>
      </p:sp>
      <p:sp>
        <p:nvSpPr>
          <p:cNvPr id="25" name="Text 23"/>
          <p:cNvSpPr/>
          <p:nvPr/>
        </p:nvSpPr>
        <p:spPr>
          <a:xfrm>
            <a:off x="8386420" y="4846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6B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C4B5A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— 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75895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la startup au </a:t>
            </a:r>
            <a:pPr indent="0" marL="0">
              <a:buNone/>
            </a:pPr>
            <a:r>
              <a:rPr lang="en-US" sz="3000" i="1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leader régional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2016" y="1874520"/>
            <a:ext cx="219456" cy="219456"/>
          </a:xfrm>
          <a:prstGeom prst="ellipse">
            <a:avLst/>
          </a:prstGeom>
          <a:solidFill>
            <a:srgbClr val="FF6B2B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72" y="1984248"/>
            <a:ext cx="2587752" cy="0"/>
          </a:xfrm>
          <a:prstGeom prst="line">
            <a:avLst/>
          </a:prstGeom>
          <a:noFill/>
          <a:ln w="19050">
            <a:solidFill>
              <a:srgbClr val="FF6B2B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2016" y="22860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2016" y="25328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2016" y="30632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6B2B">
              <a:alpha val="1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91744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+ Auth JWT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2016" y="35204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6B2B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91744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LMS de base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2016" y="39776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6B2B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1744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RAG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2016" y="44348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6B2B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1744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React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9224" y="1874520"/>
            <a:ext cx="219456" cy="219456"/>
          </a:xfrm>
          <a:prstGeom prst="ellipse">
            <a:avLst/>
          </a:prstGeom>
          <a:solidFill>
            <a:srgbClr val="FF6B2B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08680" y="1984248"/>
            <a:ext cx="2587752" cy="0"/>
          </a:xfrm>
          <a:prstGeom prst="line">
            <a:avLst/>
          </a:prstGeom>
          <a:noFill/>
          <a:ln w="19050">
            <a:solidFill>
              <a:srgbClr val="FF6B2B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9224" y="22860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02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9224" y="25328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9224" y="30632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6B2B">
              <a:alpha val="18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98952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Academy module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9224" y="35204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6B2B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498952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Correction IA avancée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9224" y="39776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98952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 mobile Flutter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9224" y="44348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98952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 enseignants beta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96432" y="1874520"/>
            <a:ext cx="219456" cy="219456"/>
          </a:xfrm>
          <a:prstGeom prst="ellipse">
            <a:avLst/>
          </a:prstGeom>
          <a:solidFill>
            <a:srgbClr val="0D1B2A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5888" y="1984248"/>
            <a:ext cx="2587752" cy="0"/>
          </a:xfrm>
          <a:prstGeom prst="line">
            <a:avLst/>
          </a:prstGeom>
          <a:noFill/>
          <a:ln w="19050">
            <a:solidFill>
              <a:srgbClr val="FF6B2B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6432" y="22860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03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6432" y="25328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Croissance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196432" y="30632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30616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100+ écoles actives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96432" y="35204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3061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Interface Arabe complète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6432" y="39776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306160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API partenaires MEN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96432" y="44348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30616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Analytics avancées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003640" y="1874520"/>
            <a:ext cx="219456" cy="219456"/>
          </a:xfrm>
          <a:prstGeom prst="ellipse">
            <a:avLst/>
          </a:prstGeom>
          <a:solidFill>
            <a:srgbClr val="0D1B2A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03640" y="22860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B3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04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03640" y="253288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Expansion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9003640" y="30632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113368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Maroc · Algérie · Libye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003640" y="35204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113368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White-label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003640" y="39776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9113368" y="3977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LLM propriétaire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003640" y="443484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113368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Levée de fonds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l" indent="0" marL="0">
              <a:buNone/>
            </a:pPr>
            <a:r>
              <a:rPr lang="en-US" sz="1300" i="1" dirty="0">
                <a:solidFill>
                  <a:srgbClr val="FF6B2B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076895" y="6492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7B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MODÈLE DE PRÉSENTATION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95448" y="1828800"/>
            <a:ext cx="6400800" cy="6400800"/>
          </a:xfrm>
          <a:prstGeom prst="ellipse">
            <a:avLst/>
          </a:prstGeom>
          <a:solidFill>
            <a:srgbClr val="FF6B2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194560"/>
            <a:ext cx="94484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Prêt à révolutionner 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i="1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l'éducation en Tunisie 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011680" y="3520440"/>
            <a:ext cx="81683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AB4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EDUAI Learning est une plateforme complète, prête à être présentée, testée et déployée.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581248" y="42519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FF6B2B"/>
          </a:solidFill>
          <a:ln/>
          <a:effectLst>
            <a:outerShdw sx="100000" sy="100000" kx="0" ky="0" algn="bl" rotWithShape="0" blurRad="177800" dist="50800" dir="5400000">
              <a:srgbClr val="FF6B2B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81248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Lancer la démo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3008" y="425196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33008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Télécharger le dossier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EDU</a:t>
            </a:r>
            <a:pPr algn="ctr" indent="0" marL="0">
              <a:buNone/>
            </a:pPr>
            <a:r>
              <a:rPr lang="en-US" sz="1800" i="1" dirty="0">
                <a:solidFill>
                  <a:srgbClr val="FFB347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AI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 Learning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619963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E7B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EDTECH · IA · SAAS · ACADEMY · TUNISIE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2026-07-19T16:32:14Z</dcterms:created>
  <dcterms:modified xsi:type="dcterms:W3CDTF">2026-07-19T16:32:14Z</dcterms:modified>
</cp:coreProperties>
</file>